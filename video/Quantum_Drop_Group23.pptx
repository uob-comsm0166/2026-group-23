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307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8686800" y="4114800"/>
            <a:ext cx="5486400" cy="54864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9DB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COMSM0166  ·  SOFTWARE ENGINEERING DISCIPLINE &amp; PRACTICE  ·  v2.1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Quantum Drop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idle seconds in a tower-defence — Plinko is the economy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9144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DB2BF"/>
                </a:solidFill>
              </a:rPr>
              <a:t>GROUP 23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096512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Chengyin</a:t>
            </a:r>
            <a:r>
              <a:rPr lang="en-US" sz="1200" i="1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Minigame physics  ·  Audio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6480" y="4096512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400800" y="4023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Zhu Qihao</a:t>
            </a:r>
            <a:r>
              <a:rPr lang="en-US" sz="1200" i="1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Minigame gates  ·  Economy balancing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599432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14400" y="4526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Zhenyu</a:t>
            </a:r>
            <a:r>
              <a:rPr lang="en-US" sz="1200" i="1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Tower combat  ·  Performance profiling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0" y="4599432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00800" y="4526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Xun</a:t>
            </a:r>
            <a:r>
              <a:rPr lang="en-US" sz="1200" i="1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Monsters &amp; waves  ·  Boss AI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5102352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14400" y="5029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Bowen</a:t>
            </a:r>
            <a:r>
              <a:rPr lang="en-US" sz="1200" i="1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Map &amp; placement  ·  Cache layers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26480" y="5102352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400800" y="5029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Zhuolun</a:t>
            </a:r>
            <a:r>
              <a:rPr lang="en-US" sz="1200" i="1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UI &amp; state  ·  Refactor lead  ·  i18n / tests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D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github.com/UoB-COMSM0166/2026-group-23  ·  live build: docs/Game_v2.1/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 / 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Quantum Drop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73352"/>
            <a:ext cx="73152" cy="2560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40080" y="163677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Yu Chengyin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65836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91440" cy="4114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IT?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zero-build p5.js browser game that fuses two genres: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3154680"/>
            <a:ext cx="6126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slow strategy of a </a:t>
            </a: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tower-defence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the fast, tactile feel of a </a:t>
            </a: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Plinko ball-drop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player aims a launcher between waves and the falling ball count becomes their coin budget.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526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77240" y="5166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4526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286000" y="5166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Tower types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94760" y="4526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794760" y="5166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Enemies (3 bosses)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0" y="4526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303520" y="5166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5669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554480" y="566928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554480" y="5669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p5.js · zero build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926080" y="566928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2926080" y="5669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/ 中文 i18n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97680" y="566928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297680" y="5669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0" y="566928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5669280" y="5669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node:test (no install)</a:t>
            </a:r>
            <a:endParaRPr lang="en-US" sz="900" dirty="0"/>
          </a:p>
        </p:txBody>
      </p:sp>
      <p:pic>
        <p:nvPicPr>
          <p:cNvPr id="29" name="Image 0" descr="launch-scree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0" y="2103120"/>
            <a:ext cx="4389120" cy="41148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315200" y="62636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screen — bilingual, sci-fi map, dev shortcut to all levels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9"/>
          <p:cNvSpPr/>
          <p:nvPr/>
        </p:nvSpPr>
        <p:spPr>
          <a:xfrm>
            <a:off x="365760" y="6556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Drop  ·  Group 23  ·  COMSM0166 Software Engineering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0972800" y="65562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2 / VISUAL MATERIAL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Procedural cyberpunk, six contributors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73352"/>
            <a:ext cx="73152" cy="2560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40080" y="163677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Liu Bowen</a:t>
            </a:r>
            <a:endParaRPr lang="en-US" sz="1300" dirty="0"/>
          </a:p>
        </p:txBody>
      </p:sp>
      <p:pic>
        <p:nvPicPr>
          <p:cNvPr id="7" name="Image 0" descr="level-map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103120"/>
            <a:ext cx="4937760" cy="3291840"/>
          </a:xfrm>
          <a:prstGeom prst="rect">
            <a:avLst/>
          </a:prstGeom>
        </p:spPr>
      </p:pic>
      <p:pic>
        <p:nvPicPr>
          <p:cNvPr id="8" name="Image 1" descr="level1-thumb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5486400"/>
            <a:ext cx="914400" cy="777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62636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Alpha</a:t>
            </a:r>
            <a:endParaRPr lang="en-US" sz="800" dirty="0"/>
          </a:p>
        </p:txBody>
      </p:sp>
      <p:pic>
        <p:nvPicPr>
          <p:cNvPr id="10" name="Image 2" descr="level2-thumb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463040" y="5486400"/>
            <a:ext cx="914400" cy="7772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62636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Nebula Rift</a:t>
            </a:r>
            <a:endParaRPr lang="en-US" sz="800" dirty="0"/>
          </a:p>
        </p:txBody>
      </p:sp>
      <p:pic>
        <p:nvPicPr>
          <p:cNvPr id="12" name="Image 3" descr="level3-thumb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468880" y="5486400"/>
            <a:ext cx="914400" cy="7772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468880" y="62636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 Citadel</a:t>
            </a:r>
            <a:endParaRPr lang="en-US" sz="800" dirty="0"/>
          </a:p>
        </p:txBody>
      </p:sp>
      <p:pic>
        <p:nvPicPr>
          <p:cNvPr id="14" name="Image 4" descr="level4-thumb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474720" y="5486400"/>
            <a:ext cx="914400" cy="7772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474720" y="62636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Void Maze</a:t>
            </a:r>
            <a:endParaRPr lang="en-US" sz="800" dirty="0"/>
          </a:p>
        </p:txBody>
      </p:sp>
      <p:pic>
        <p:nvPicPr>
          <p:cNvPr id="16" name="Image 5" descr="level5-thumb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480560" y="5486400"/>
            <a:ext cx="914400" cy="77724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480560" y="62636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Gate</a:t>
            </a:r>
            <a:endParaRPr lang="en-US" sz="800" dirty="0"/>
          </a:p>
        </p:txBody>
      </p:sp>
      <p:sp>
        <p:nvSpPr>
          <p:cNvPr id="18" name="Shape 10"/>
          <p:cNvSpPr/>
          <p:nvPr/>
        </p:nvSpPr>
        <p:spPr>
          <a:xfrm>
            <a:off x="5669280" y="2103120"/>
            <a:ext cx="29260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1"/>
          <p:cNvSpPr/>
          <p:nvPr/>
        </p:nvSpPr>
        <p:spPr>
          <a:xfrm>
            <a:off x="5669280" y="2103120"/>
            <a:ext cx="292608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2"/>
          <p:cNvSpPr/>
          <p:nvPr/>
        </p:nvSpPr>
        <p:spPr>
          <a:xfrm>
            <a:off x="585216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visuals are code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5852160" y="265176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sprite sheets — every monster, tower, beam and particle is drawn from primitives + trig. One unified aesthetic across six contributors.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8778240" y="2103120"/>
            <a:ext cx="29260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15"/>
          <p:cNvSpPr/>
          <p:nvPr/>
        </p:nvSpPr>
        <p:spPr>
          <a:xfrm>
            <a:off x="8778240" y="2103120"/>
            <a:ext cx="292608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16"/>
          <p:cNvSpPr/>
          <p:nvPr/>
        </p:nvSpPr>
        <p:spPr>
          <a:xfrm>
            <a:off x="896112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themed sectors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8961120" y="265176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Alpha · Nebula Rift · Iron Citadel · Void Maze · Omega Gate. Each level has its own palette, path and BGM track.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5669280" y="4206240"/>
            <a:ext cx="29260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19"/>
          <p:cNvSpPr/>
          <p:nvPr/>
        </p:nvSpPr>
        <p:spPr>
          <a:xfrm>
            <a:off x="5669280" y="4206240"/>
            <a:ext cx="292608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0"/>
          <p:cNvSpPr/>
          <p:nvPr/>
        </p:nvSpPr>
        <p:spPr>
          <a:xfrm>
            <a:off x="5852160" y="4389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UI (EN / 中)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5852160" y="475488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t(key) toggle on the launch screen, persisted in localStorage. Caches include currentLang in their signature.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8778240" y="4206240"/>
            <a:ext cx="29260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3"/>
          <p:cNvSpPr/>
          <p:nvPr/>
        </p:nvSpPr>
        <p:spPr>
          <a:xfrm>
            <a:off x="8778240" y="4206240"/>
            <a:ext cx="2926080" cy="9144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4"/>
          <p:cNvSpPr/>
          <p:nvPr/>
        </p:nvSpPr>
        <p:spPr>
          <a:xfrm>
            <a:off x="8961120" y="4389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canvas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961120" y="475488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windowResized() + CSS letterbox so the 980×840 sketch fills any viewport while preserving aspect ratio.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27"/>
          <p:cNvSpPr/>
          <p:nvPr/>
        </p:nvSpPr>
        <p:spPr>
          <a:xfrm>
            <a:off x="365760" y="6556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Drop  ·  Group 23  ·  COMSM0166 Software Engineering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0972800" y="65562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 / CLARITY OF IDEA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idle seconds — Plinko is the economy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73352"/>
            <a:ext cx="73152" cy="2560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40080" y="163677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Zhu Qihao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38328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&amp; DROP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971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launch. Balls fall through +N, −N, ×N gates — luck × skill decides the haul.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2286000"/>
            <a:ext cx="338328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389120" y="201168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3891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 → COINS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2971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ball count → coin payout, one-to-one. The card prints BALLS → COINS so the link is unmistakable.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21040" y="2286000"/>
            <a:ext cx="338328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275320" y="201168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2753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4964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DEFEND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49640" y="2971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from 8 tower variants × 3 tiers; survive the wave; leftover coins carry into the next drop.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flipH="1">
            <a:off x="777240" y="4251960"/>
            <a:ext cx="10972800" cy="0"/>
          </a:xfrm>
          <a:prstGeom prst="line">
            <a:avLst/>
          </a:prstGeom>
          <a:noFill/>
          <a:ln w="19050">
            <a:solidFill>
              <a:srgbClr val="21295C"/>
            </a:solidFill>
            <a:prstDash val="dash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48640" y="4343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back. Coins persist across the loop, tying both halves together.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029200"/>
            <a:ext cx="11247120" cy="13258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77240" y="5120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C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5394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tower-defences make you wait between waves; we replaced that dead time with a skill-based economy.  </a:t>
            </a:r>
            <a:r>
              <a:rPr lang="en-US" sz="13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drop genuinely changes your tower composition — and a bad drop forces a creative defence with what you can afford.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365760" y="6556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Drop  ·  Group 23  ·  COMSM0166 Software Engineering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972800" y="65562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1724" y="1923637"/>
            <a:ext cx="509155" cy="2664229"/>
          </a:xfrm>
          <a:prstGeom prst="roundRect">
            <a:avLst>
              <a:gd name="adj" fmla="val 1333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198" y="1405222"/>
            <a:ext cx="218209" cy="3651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</a:p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DEMO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62546" y="19447"/>
            <a:ext cx="8707582" cy="6422917"/>
          </a:xfrm>
          <a:prstGeom prst="rect">
            <a:avLst/>
          </a:prstGeom>
          <a:solidFill>
            <a:srgbClr val="11263A"/>
          </a:solidFill>
          <a:ln w="2540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365760" y="6556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Drop  ·  Group 23  ·  COMSM0166 Software Engineering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0" y="65562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4 / CHALLENGE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 economy, real variance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73352"/>
            <a:ext cx="73152" cy="2560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40080" y="163677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Zhang Xun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4864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48640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minigame is the entire economy — it has to feel </a:t>
            </a: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and fair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while producing a designer-tunable payout.</a:t>
            </a:r>
            <a:endParaRPr lang="en-US" sz="1300" dirty="0"/>
          </a:p>
        </p:txBody>
      </p:sp>
      <p:pic>
        <p:nvPicPr>
          <p:cNvPr id="11" name="Image 0" descr="minigame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3429000"/>
            <a:ext cx="5029200" cy="23317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5806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Mid-salvo: gravity-driven balls cascade through +N / −N / ×N gates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63640" y="2103120"/>
            <a:ext cx="5486400" cy="41148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6492240" y="2240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C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GOT IT TO FEEL RIGHT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9224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+ spawn-queue + balanced lattice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92240" y="3154680"/>
            <a:ext cx="5029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~80 balls on screen with </a:t>
            </a:r>
            <a:r>
              <a:rPr lang="en-US" sz="1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pooling</a:t>
            </a:r>
            <a:r>
              <a:rPr lang="en-US" sz="12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20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alive=false</a:t>
            </a:r>
            <a:r>
              <a:rPr lang="en-US" sz="12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then a single per-frame filter, never splice in the loop.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effects push into a </a:t>
            </a:r>
            <a:r>
              <a:rPr lang="en-US" sz="120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spawnQueue</a:t>
            </a:r>
            <a:r>
              <a:rPr lang="en-US" sz="12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 never mutate </a:t>
            </a:r>
            <a:r>
              <a:rPr lang="en-US" sz="120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mgBalls</a:t>
            </a:r>
            <a:r>
              <a:rPr lang="en-US" sz="12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mid-iteration.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Per-level </a:t>
            </a:r>
            <a:r>
              <a:rPr lang="en-US" sz="120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data/levels.js</a:t>
            </a:r>
            <a:r>
              <a:rPr lang="en-US" sz="12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tunes ball count + gate density so payouts land within ±25 % of the design target — wide enough for variance, narrow enough for tuning.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card prints </a:t>
            </a:r>
            <a:r>
              <a:rPr lang="en-US" sz="1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BALLS → COINS</a:t>
            </a:r>
            <a:r>
              <a:rPr lang="en-US" sz="12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Round-1 testers couldn't see the causal chain; Round-2 testers got it by wave 2.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365760" y="6556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Drop  ·  Group 23  ·  COMSM0166 Software Engineering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972800" y="65562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5 / CHALLENGE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v1.4 → v2.0:  three god-files, one sprint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73352"/>
            <a:ext cx="73152" cy="2560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40080" y="163677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Zhang Zhenyu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4864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48640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v1.4, three files attracted every new feature. Parallel PRs colliding every week.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246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monsters.js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300984"/>
            <a:ext cx="2377440" cy="182880"/>
          </a:xfrm>
          <a:prstGeom prst="rect">
            <a:avLst/>
          </a:prstGeom>
          <a:solidFill>
            <a:srgbClr val="065A82">
              <a:alpha val="85000"/>
            </a:srgbClr>
          </a:solidFill>
          <a:ln w="12700">
            <a:solidFill>
              <a:srgbClr val="065A82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206240" y="3246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2,082 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50215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entities + Boss AI + particles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3749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towers.js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803904"/>
            <a:ext cx="1462776" cy="18288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65A82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291576" y="3749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1,281 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00507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tower types via if/else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ui.js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83080" y="4306824"/>
            <a:ext cx="1066536" cy="182880"/>
          </a:xfrm>
          <a:prstGeom prst="rect">
            <a:avLst/>
          </a:prstGeom>
          <a:solidFill>
            <a:srgbClr val="065A82">
              <a:alpha val="55000"/>
            </a:srgbClr>
          </a:solidFill>
          <a:ln w="12700">
            <a:solidFill>
              <a:srgbClr val="065A8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2895336" y="4251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934 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450799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+ pause + build menu + …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" y="4937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4 300 lines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 three files,  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blocked everyone else.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54406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v2.0 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234440" y="5440680"/>
            <a:ext cx="822960" cy="292608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23444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03120" y="5440680"/>
            <a:ext cx="822960" cy="292608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210312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monsters/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971800" y="5440680"/>
            <a:ext cx="822960" cy="292608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297180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towers/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40480" y="5440680"/>
            <a:ext cx="822960" cy="292608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384048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ui/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5440680"/>
            <a:ext cx="822960" cy="292608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70916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screens/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5800" y="5852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 no behaviour change · no caller rewrites · one sprint.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2103120"/>
            <a:ext cx="5486400" cy="41148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492240" y="2240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C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FIXED IT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92240" y="2606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extraction, prototype-injected variants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92240" y="3154680"/>
            <a:ext cx="52120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2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data into </a:t>
            </a:r>
            <a:r>
              <a:rPr lang="en-US" sz="120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r>
              <a:rPr lang="en-US" sz="12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TOWER_DEFS, WAVE_CONFIGS, LEVEL_INFO. Removed ~400 mixed lines.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2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mutable global into </a:t>
            </a:r>
            <a:r>
              <a:rPr lang="en-US" sz="120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state.js</a:t>
            </a:r>
            <a:r>
              <a:rPr lang="en-US" sz="12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declarations only, callers untouched.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2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Concern-oriented split: </a:t>
            </a:r>
            <a:r>
              <a:rPr lang="en-US" sz="120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monsters/  towers/  ui/  screens/</a:t>
            </a:r>
            <a:r>
              <a:rPr lang="en-US" sz="12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2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Towers via </a:t>
            </a:r>
            <a:r>
              <a:rPr lang="en-US" sz="1200" dirty="0">
                <a:solidFill>
                  <a:srgbClr val="F9C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Tower.prototype</a:t>
            </a:r>
            <a:r>
              <a:rPr lang="en-US" sz="12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injection — eight tiny variant files,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call-site changes</a:t>
            </a:r>
            <a:r>
              <a:rPr lang="en-US" sz="12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i="1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playing all 5 levels before &amp; after; gameplay identical. Week-9 payoff: sound + perf HUD + responsive CSS landed in parallel with zero merge conflicts.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365760" y="6556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Drop  ·  Group 23  ·  COMSM0166 Software Engineering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972800" y="65562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6 / CHALLENGE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Drawing with code, not pixels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73352"/>
            <a:ext cx="73152" cy="2560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40080" y="163677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Liu Bowen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4864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486400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 ·  WEEK 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sprite plan stalled.</a:t>
            </a:r>
            <a:endParaRPr lang="en-US" sz="1600" dirty="0"/>
          </a:p>
        </p:txBody>
      </p:sp>
      <p:pic>
        <p:nvPicPr>
          <p:cNvPr id="11" name="Image 0" descr="v0_3_sprit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3108960"/>
            <a:ext cx="4572000" cy="1554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4709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v0.3 sprites — pixel art, three different hands.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68680" y="50749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diverged across contributors.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versioning — every iteration cost a day.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 code was waiting on art that wasn't coming.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63640" y="2103120"/>
            <a:ext cx="5486400" cy="41148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6492240" y="2240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C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PIVOTED  ·  v2.1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92240" y="2606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visuals from primitives + trig.</a:t>
            </a:r>
            <a:endParaRPr lang="en-US" sz="1600" dirty="0"/>
          </a:p>
        </p:txBody>
      </p:sp>
      <p:pic>
        <p:nvPicPr>
          <p:cNvPr id="17" name="Image 1" descr="procedural_after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80960" y="3108960"/>
            <a:ext cx="1508760" cy="1554480"/>
          </a:xfrm>
          <a:prstGeom prst="rect">
            <a:avLst/>
          </a:prstGeom>
        </p:spPr>
      </p:pic>
      <p:pic>
        <p:nvPicPr>
          <p:cNvPr id="18" name="Image 2" descr="procedural_after_mg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326880" y="3108960"/>
            <a:ext cx="2286000" cy="1554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2240" y="47091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Glow, beams, particles — all from polar coords + trig.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492240" y="507492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 drawn from JS — one primitive per type →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aesthetic</a:t>
            </a:r>
            <a:r>
              <a:rPr lang="en-US" sz="12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six contributors.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i="1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one ugly week. 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Payoff: the cyberpunk look held the rest of the term.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7"/>
          <p:cNvSpPr/>
          <p:nvPr/>
        </p:nvSpPr>
        <p:spPr>
          <a:xfrm>
            <a:off x="365760" y="6556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Drop  ·  Group 23  ·  COMSM0166 Software Engineering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0972800" y="65562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7 / PROCESS &amp; TEAMWORK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Owners, retros, playtesters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73352"/>
            <a:ext cx="73152" cy="2560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40080" y="163677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Li Zhuolun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1945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19456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94360" y="2194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2-3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30632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Dot-vote across 6 pitches; fused TD + Plinko on the tie-break.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88920" y="2194560"/>
            <a:ext cx="21945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2788920" y="2194560"/>
            <a:ext cx="219456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2926080" y="2194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2697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 + stories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26080" y="30632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levels, 18 stories, 5 stakeholder roles. Strict scope.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20640" y="2194560"/>
            <a:ext cx="21945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120640" y="2194560"/>
            <a:ext cx="219456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257800" y="2194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5-7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57800" y="2697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sprints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57800" y="30632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owner per module + a cross-cutting secondary.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52360" y="2194560"/>
            <a:ext cx="21945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7452360" y="2194560"/>
            <a:ext cx="219456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589520" y="2194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9520" y="2697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v1.4 → v2.0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589520" y="30632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God-file refactor sprint; data/, state.js, prototype towers.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784080" y="2194560"/>
            <a:ext cx="21945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9784080" y="2194560"/>
            <a:ext cx="219456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9921240" y="2194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9-10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921240" y="2697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&amp; QA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921240" y="30632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Tutorial, i18n, sound, perf HUD, 48 unit tests, 2 playtest rounds.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754880"/>
            <a:ext cx="11247120" cy="1554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858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C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RITUALS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" y="5166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+ Pages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5800" y="56235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trunk-based · preview URL per merge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74720" y="5166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owner / module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474720" y="56235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 cross-cutting secondary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63640" y="5166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Wed workshop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263640" y="56235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pair-debug · sprint plan · retro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052560" y="5166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Playtests × 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052560" y="56235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with strangers — drove the tutorial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365760" y="6556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Drop  ·  Group 23  ·  COMSM0166 Software Engineering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972800" y="65562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8 / FUTURE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we'd ship next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73352"/>
            <a:ext cx="73152" cy="2560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40080" y="163677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Li Zhuolun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6576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3591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Per-level star ratings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key already reserved; UI not yet built. Cheap to add, big retention impact.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promotes a Could-Have from the MoSCoW list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43400" y="2194560"/>
            <a:ext cx="36576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526280" y="237744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5262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20640" y="23591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tutorial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26280" y="29718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 overlay is informational. A forced-first-build flow would land the loop even faster.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3749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closes the Round-1 onboarding gap (Process slide)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29600" y="2194560"/>
            <a:ext cx="36576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412480" y="237744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4124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06840" y="23591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audit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0" y="29718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Colour-blind palettes for range rings; keyboard-only play; larger-font option.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0" y="3749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new stakeholder row, not yet covered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343400"/>
            <a:ext cx="36576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34440" y="45079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touch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0080" y="51206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mouseX/Y already maps to taps; bottleneck is build-menu sizing on narrow screens.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5897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Won't-Have promoted; CSS work small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343400" y="4343400"/>
            <a:ext cx="36576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526280" y="452628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5262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120640" y="45079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regression tests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526280" y="51206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Canvas-hash per fixed frame to catch rendering regressions automatically.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26280" y="5897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extends our 48-case node:test suite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229600" y="4343400"/>
            <a:ext cx="36576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412480" y="452628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4124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006840" y="45079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Sequel: meta + co-op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412480" y="51206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Roguelite unlocks across runs; authored boards paired to wave threats; two-player shared economy.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412480" y="5897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builds on the loop from Ch.3 + the economy from Ch.4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365760" y="6556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Drop  ·  Group 23  ·  COMSM0166 Software Engineering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972800" y="65562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F96167">
              <a:alpha val="20000"/>
            </a:srgbClr>
          </a:solidFill>
          <a:ln w="12700">
            <a:solidFill>
              <a:srgbClr val="F9616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balls. Build the towers. Tell us what to fix.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9144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10881360" cy="21945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C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3931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github.com/UoB-COMSM0166/2026-group-23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389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C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456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uob-comsm0166.github.io/2026-group-23/Game_v2.1/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846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C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4846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 from the repo README — tag: video/v2.1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303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C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94560" y="5303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Yu Chengyin · Zhu Qihao · Zhang Zhenyu · Zhang Xun · Liu Bowen · Li Zhuolun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9DB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COMSM0166  ·  Group 23  ·  v2.1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1520</Words>
  <Application>Microsoft Macintosh PowerPoint</Application>
  <PresentationFormat>宽屏</PresentationFormat>
  <Paragraphs>213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Drop - Group 23</dc:title>
  <dc:subject>PptxGenJS Presentation</dc:subject>
  <dc:creator>Group 23</dc:creator>
  <cp:lastModifiedBy>Zhuolun Li</cp:lastModifiedBy>
  <cp:revision>3</cp:revision>
  <dcterms:created xsi:type="dcterms:W3CDTF">2026-04-25T19:36:20Z</dcterms:created>
  <dcterms:modified xsi:type="dcterms:W3CDTF">2026-04-26T11:38:51Z</dcterms:modified>
</cp:coreProperties>
</file>